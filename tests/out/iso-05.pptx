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Default Extension="gif" ContentType="image/gif"/>
  <Default Extension="svg" ContentType="image/svg+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  <p:defaultTextStyle>
    <a:defPPr>
      <a:defRPr lang="zh-CN">
        <a:latin typeface="MiSans"/>
        <a:ea typeface="MiSans"/>
        <a:cs typeface="MiSans"/>
      </a:defRPr>
    </a:defPPr>
  </p:defaultTextStyle>
  <p:title>iso-05</p:tit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ysClr val="window" lastClr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 kern="1200">
          <a:solidFill>
            <a:schemeClr val="tx1"/>
          </a:solidFill>
          <a:latin typeface="MiSans"/>
          <a:ea typeface="MiSans"/>
          <a:cs typeface="MiSans"/>
        </a:defRPr>
      </a:lvl1pPr>
    </p:titleStyle>
    <p:bodyStyle>
      <a:lvl1pPr>
        <a:defRPr sz="1800">
          <a:solidFill>
            <a:schemeClr val="tx1"/>
          </a:solidFill>
          <a:latin typeface="MiSans"/>
          <a:ea typeface="MiSans"/>
          <a:cs typeface="MiSans"/>
        </a:defRPr>
      </a:lvl1pPr>
    </p:bodyStyle>
    <p:otherStyle>
      <a:lvl1pPr>
        <a:defRPr sz="1800">
          <a:solidFill>
            <a:schemeClr val="tx1"/>
          </a:solidFill>
          <a:latin typeface="MiSans"/>
          <a:ea typeface="MiSans"/>
          <a:cs typeface="MiSan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" name="t1"/>
          <p:cNvSpPr txBox="1"/>
          <p:nvPr/>
        </p:nvSpPr>
        <p:spPr>
          <a:xfrm>
            <a:off x="762000" y="762000"/>
            <a:ext cx="5080000" cy="5080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b="1" sz="2800">
                <a:solidFill>
                  <a:schemeClr val="accent1"/>
                </a:solidFill>
                <a:latin typeface="MiSans"/>
                <a:ea typeface="MiSans"/>
                <a:cs typeface="MiSans"/>
              </a:rPr>
              <a:t>05 公式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2"/>
              <p:cNvSpPr txBox="1"/>
              <p:nvPr/>
            </p:nvSpPr>
            <p:spPr>
              <a:xfrm>
                <a:off x="762000" y="1778000"/>
                <a:ext cx="10160000" cy="762000"/>
              </a:xfrm>
              <a:prstGeom prst="rect">
                <a:avLst/>
              </a:prstGeom>
              <a:noFill/>
            </p:spPr>
            <p:txBody>
              <a:bodyPr lIns="0" tIns="0" rIns="0" bIns="0" wrap="square" anchor="t">
                <a:spAutoFit/>
              </a:bodyPr>
              <a:lstStyle/>
              <a:p>
                <a:pPr algn="l"/>
                <a:r>
                  <a:rPr lang="zh-CN" sz="2200">
                    <a:latin typeface="MiSans"/>
                    <a:ea typeface="MiSans"/>
                    <a:cs typeface="MiSans"/>
                  </a:rPr>
                  <a:t>勾股定理：</a:t>
                </a:r>
                <a14:m xmlns:a14="http://schemas.microsoft.com/office/drawing/2010/main">
                  <m:oMath xmlns:m="http://schemas.openxmlformats.org/officeDocument/2006/math">
                    <m:sSup>
                      <m:e>
                        <m:r>
                          <a:rPr sz="2200"/>
                          <m:t>a</m:t>
                        </m:r>
                      </m:e>
                      <m:sup>
                        <m:r>
                          <a:rPr sz="2200"/>
                          <m:t>2</m:t>
                        </m:r>
                      </m:sup>
                    </m:sSup>
                    <m:r>
                      <a:rPr sz="2200"/>
                      <m:t>+</m:t>
                    </m:r>
                    <m:sSup>
                      <m:e>
                        <m:r>
                          <a:rPr sz="2200"/>
                          <m:t>b</m:t>
                        </m:r>
                      </m:e>
                      <m:sup>
                        <m:r>
                          <a:rPr sz="2200"/>
                          <m:t>2</m:t>
                        </m:r>
                      </m:sup>
                    </m:sSup>
                    <m:r>
                      <a:rPr sz="2200"/>
                      <m:t>=</m:t>
                    </m:r>
                    <m:sSup>
                      <m:e>
                        <m:r>
                          <a:rPr sz="2200"/>
                          <m:t>c</m:t>
                        </m:r>
                      </m:e>
                      <m:sup>
                        <m:r>
                          <a:rPr sz="2200"/>
                          <m:t>2</m:t>
                        </m:r>
                      </m:sup>
                    </m:sSup>
                  </m:oMath>
                </a14:m>
                <a:r>
                  <a:rPr lang="zh-CN" sz="2200">
                    <a:latin typeface="MiSans"/>
                    <a:ea typeface="MiSans"/>
                    <a:cs typeface="MiSans"/>
                  </a:rPr>
                  <a:t xml:space="preserve"> 得证</a:t>
                </a:r>
              </a:p>
            </p:txBody>
          </p:sp>
        </mc:Choice>
        <mc:Fallback>
          <p:sp>
            <p:nvSpPr>
              <p:cNvPr id="3" name="t2"/>
              <p:cNvSpPr txBox="1"/>
              <p:nvPr/>
            </p:nvSpPr>
            <p:spPr>
              <a:xfrm>
                <a:off x="762000" y="1778000"/>
                <a:ext cx="10160000" cy="762000"/>
              </a:xfrm>
              <a:prstGeom prst="rect">
                <a:avLst/>
              </a:prstGeom>
              <a:noFill/>
            </p:spPr>
            <p:txBody>
              <a:bodyPr lIns="0" tIns="0" rIns="0" bIns="0" wrap="square" anchor="t">
                <a:spAutoFit/>
              </a:bodyPr>
              <a:lstStyle/>
              <a:p>
                <a:pPr algn="l"/>
                <a:r>
                  <a:rPr lang="zh-CN" sz="2200">
                    <a:latin typeface="MiSans"/>
                    <a:ea typeface="MiSans"/>
                    <a:cs typeface="MiSans"/>
                  </a:rPr>
                  <a:t>勾股定理：</a:t>
                </a:r>
                <a:r>
                  <a:rPr lang="zh-CN" sz="2200">
                    <a:latin typeface="MiSans"/>
                    <a:ea typeface="MiSans"/>
                    <a:cs typeface="MiSans"/>
                  </a:rPr>
                  <a:t>a^2 + b^2 = c^2</a:t>
                </a:r>
                <a:r>
                  <a:rPr lang="zh-CN" sz="2200">
                    <a:latin typeface="MiSans"/>
                    <a:ea typeface="MiSans"/>
                    <a:cs typeface="MiSans"/>
                  </a:rPr>
                  <a:t xml:space="preserve"> 得证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3"/>
              <p:cNvSpPr txBox="1"/>
              <p:nvPr/>
            </p:nvSpPr>
            <p:spPr>
              <a:xfrm>
                <a:off x="762000" y="2794000"/>
                <a:ext cx="10160000" cy="762000"/>
              </a:xfrm>
              <a:prstGeom prst="rect">
                <a:avLst/>
              </a:prstGeom>
              <a:noFill/>
            </p:spPr>
            <p:txBody>
              <a:bodyPr lIns="0" tIns="0" rIns="0" bIns="0" wrap="square" anchor="t">
                <a:spAutoFit/>
              </a:bodyPr>
              <a:lstStyle/>
              <a:p>
                <a:pPr algn="ctr"/>
                <a14:m xmlns:a14="http://schemas.microsoft.com/office/drawing/2010/main"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∫"/>
                          <m:limLoc m:val="subSup"/>
                          <m:grow m:val="1"/>
                          <m:subHide m:val="off"/>
                          <m:supHide m:val="off"/>
                        </m:naryPr>
                        <m:sub>
                          <m:r>
                            <a:rPr sz="2200"/>
                            <m:t>0</m:t>
                          </m:r>
                        </m:sub>
                        <m:sup>
                          <m:r>
                            <a:rPr sz="2200"/>
                            <m:t>1</m:t>
                          </m:r>
                        </m:sup>
                        <m:e>
                          <m:sSup>
                            <m:e>
                              <m:r>
                                <a:rPr sz="2200"/>
                                <m:t>x</m:t>
                              </m:r>
                            </m:e>
                            <m:sup>
                              <m:r>
                                <a:rPr sz="2200"/>
                                <m:t>2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sz="2200"/>
                        <m:t>d</m:t>
                      </m:r>
                      <m:r>
                        <a:rPr sz="2200"/>
                        <m:t>x=</m:t>
                      </m:r>
                      <m:f>
                        <m:fPr>
                          <m:type m:val="bar"/>
                        </m:fPr>
                        <m:num>
                          <m:r>
                            <a:rPr sz="2200"/>
                            <m:t>1</m:t>
                          </m:r>
                        </m:num>
                        <m:den>
                          <m:r>
                            <a:rPr sz="2200"/>
                            <m:t>3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5" name="t3"/>
              <p:cNvSpPr txBox="1"/>
              <p:nvPr/>
            </p:nvSpPr>
            <p:spPr>
              <a:xfrm>
                <a:off x="762000" y="2794000"/>
                <a:ext cx="10160000" cy="762000"/>
              </a:xfrm>
              <a:prstGeom prst="rect">
                <a:avLst/>
              </a:prstGeom>
              <a:noFill/>
            </p:spPr>
            <p:txBody>
              <a:bodyPr lIns="0" tIns="0" rIns="0" bIns="0" wrap="square" anchor="t">
                <a:spAutoFit/>
              </a:bodyPr>
              <a:lstStyle/>
              <a:p>
                <a:pPr algn="ctr"/>
                <a:r>
                  <a:rPr lang="zh-CN" sz="2200">
                    <a:latin typeface="MiSans"/>
                    <a:ea typeface="MiSans"/>
                    <a:cs typeface="MiSans"/>
                  </a:rPr>
                  <a:t>\int_0^1 x^2 \mathrm{d}x = \frac{1}{3}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4"/>
              <p:cNvSpPr txBox="1"/>
              <p:nvPr/>
            </p:nvSpPr>
            <p:spPr>
              <a:xfrm>
                <a:off x="762000" y="3810000"/>
                <a:ext cx="10160000" cy="762000"/>
              </a:xfrm>
              <a:prstGeom prst="rect">
                <a:avLst/>
              </a:prstGeom>
              <a:noFill/>
            </p:spPr>
            <p:txBody>
              <a:bodyPr lIns="0" tIns="0" rIns="0" bIns="0" wrap="square" anchor="t">
                <a:spAutoFit/>
              </a:bodyPr>
              <a:lstStyle/>
              <a:p>
                <a:pPr algn="l"/>
                <a14:m xmlns:a14="http://schemas.microsoft.com/office/drawing/2010/main">
                  <m:oMathPara xmlns:m="http://schemas.openxmlformats.org/officeDocument/2006/math">
                    <m:oMath xmlns:m="http://schemas.openxmlformats.org/officeDocument/2006/math">
                      <m:r>
                        <a:rPr sz="2000"/>
                        <m:t>x=</m:t>
                      </m:r>
                      <m:f>
                        <m:fPr>
                          <m:type m:val="bar"/>
                        </m:fPr>
                        <m:num>
                          <m:r>
                            <a:rPr sz="2000"/>
                            <m:t>−b±</m:t>
                          </m:r>
                          <m:rad>
                            <m:radPr>
                              <m:degHide m:val="on"/>
                            </m:radPr>
                            <m:deg/>
                            <m:e>
                              <m:sSup>
                                <m:e>
                                  <m:r>
                                    <a:rPr sz="2000"/>
                                    <m:t>b</m:t>
                                  </m:r>
                                </m:e>
                                <m:sup>
                                  <m:r>
                                    <a:rPr sz="2000"/>
                                    <m:t>2</m:t>
                                  </m:r>
                                </m:sup>
                              </m:sSup>
                              <m:r>
                                <a:rPr sz="2000"/>
                                <m:t>−4ac</m:t>
                              </m:r>
                            </m:e>
                          </m:rad>
                        </m:num>
                        <m:den>
                          <m:r>
                            <a:rPr sz="2000"/>
                            <m:t>2a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7" name="t4"/>
              <p:cNvSpPr txBox="1"/>
              <p:nvPr/>
            </p:nvSpPr>
            <p:spPr>
              <a:xfrm>
                <a:off x="762000" y="3810000"/>
                <a:ext cx="10160000" cy="762000"/>
              </a:xfrm>
              <a:prstGeom prst="rect">
                <a:avLst/>
              </a:prstGeom>
              <a:noFill/>
            </p:spPr>
            <p:txBody>
              <a:bodyPr lIns="0" tIns="0" rIns="0" bIns="0" wrap="square" anchor="t">
                <a:spAutoFit/>
              </a:bodyPr>
              <a:lstStyle/>
              <a:p>
                <a:pPr algn="l"/>
                <a:r>
                  <a:rPr lang="zh-CN" sz="2000">
                    <a:latin typeface="MiSans"/>
                    <a:ea typeface="MiSans"/>
                    <a:cs typeface="MiSans"/>
                  </a:rPr>
                  <a:t>x = \frac{-b \pm \sqrt{b^2-4ac}}{2a}</a:t>
                </a:r>
              </a:p>
            </p:txBody>
          </p:sp>
        </mc:Fallback>
      </mc:AlternateContent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蓝色">
  <a:themeElements>
    <a:clrScheme name="蓝色">
      <a:dk1>
        <a:sysClr val="windowText" lastClr="000000"/>
      </a:dk1>
      <a:lt1>
        <a:sysClr val="window" lastClr="FFFFFF"/>
      </a:lt1>
      <a:dk2>
        <a:srgbClr val="1F2937"/>
      </a:dk2>
      <a:lt2>
        <a:srgbClr val="FFFFFF"/>
      </a:lt2>
      <a:accent1>
        <a:srgbClr val="2563EB"/>
      </a:accent1>
      <a:accent2>
        <a:srgbClr val="F59E0B"/>
      </a:accent2>
      <a:accent3>
        <a:srgbClr val="7FB2D9"/>
      </a:accent3>
      <a:accent4>
        <a:srgbClr val="C9A227"/>
      </a:accent4>
      <a:accent5>
        <a:srgbClr val="B5503C"/>
      </a:accent5>
      <a:accent6>
        <a:srgbClr val="5C8A6A"/>
      </a:accent6>
      <a:hlink>
        <a:srgbClr val="0563C1"/>
      </a:hlink>
      <a:folHlink>
        <a:srgbClr val="954F72"/>
      </a:folHlink>
    </a:clrScheme>
    <a:fontScheme name="open-pptd">
      <a:majorFont>
        <a:latin typeface="MiSans"/>
        <a:ea typeface="MiSans"/>
        <a:cs typeface=""/>
      </a:majorFont>
      <a:minorFont>
        <a:latin typeface="MiSans"/>
        <a:ea typeface="MiSan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  <a:tableStyleLst>
      <a:tblStyle id="{00000000-0000-0000-0000-000000000000}" styleName="Blank">
        <a:wholeTbl>
          <a:tcTxStyle>
            <a:fontRef idx="minor">
              <a:schemeClr val="tx1"/>
            </a:fontRef>
            <a:schemeClr val="tx1"/>
          </a:tcTxStyle>
        </a:wholeTbl>
      </a:tblStyle>
    </a:tableStyleLst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open-pptd</Application>
  <PresentationFormat>宽屏</PresentationFormat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幻灯片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iso-05</dc:title>
  <dc:creator>open-pptd</dc:creator>
  <cp:lastModifiedBy>open-pptd</cp:lastModifiedBy>
  <dcterms:created xsi:type="dcterms:W3CDTF">2026-08-10T05:00:40.308Z</dcterms:created>
  <dcterms:modified xsi:type="dcterms:W3CDTF">2026-08-10T05:00:40.308Z</dcterms:modified>
</cp:coreProperties>
</file>