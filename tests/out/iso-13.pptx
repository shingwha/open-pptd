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Default Extension="gif" ContentType="image/gif"/>
  <Default Extension="svg" ContentType="image/svg+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charts/chart1.xml" ContentType="application/vnd.openxmlformats-officedocument.drawingml.char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  <p:defaultTextStyle>
    <a:defPPr>
      <a:defRPr lang="zh-CN">
        <a:latin typeface="MiSans"/>
        <a:ea typeface="MiSans"/>
        <a:cs typeface="MiSans"/>
      </a:defRPr>
    </a:defPPr>
  </p:defaultTextStyle>
  <p:title>iso-13</p:tit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营收</c:v>
                </c:pt>
              </c:strCache>
            </c:strRef>
          </c:tx>
          <c:spPr>
            <a:solidFill>
              <a:srgbClr val="002E5D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txPr>
              <a:bodyPr/>
              <a:lstStyle/>
              <a:p>
                <a:pPr>
                  <a:defRPr sz="900">
                    <a:solidFill>
                      <a:schemeClr val="tx1"/>
                    </a:solidFill>
                    <a:latin typeface="MiSans"/>
                    <a:ea typeface="MiSans"/>
                    <a:cs typeface="MiSans"/>
                  </a:defRPr>
                </a:pPr>
              </a:p>
            </c:txPr>
            <c:separator val=", "/>
          </c:dLbls>
          <c:cat>
            <c:strRef>
              <c:f>Sheet1!$A$2:$A$5</c:f>
              <c:strCache>
                <c:ptCount val="4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860</c:v>
                </c:pt>
                <c:pt idx="1">
                  <c:v>920</c:v>
                </c:pt>
                <c:pt idx="2">
                  <c:v>980</c:v>
                </c:pt>
                <c:pt idx="3">
                  <c:v>1050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成本</c:v>
                </c:pt>
              </c:strCache>
            </c:strRef>
          </c:tx>
          <c:spPr>
            <a:solidFill>
              <a:srgbClr val="3A6EA5"/>
            </a:solidFill>
          </c:spPr>
          <c:dLbls>
            <c:showLegendKey val="0"/>
            <c:showVal val="1"/>
            <c:showCatName val="0"/>
            <c:showSerName val="0"/>
            <c:showPercent val="0"/>
            <c:showBubbleSize val="0"/>
            <c:txPr>
              <a:bodyPr/>
              <a:lstStyle/>
              <a:p>
                <a:pPr>
                  <a:defRPr sz="900">
                    <a:solidFill>
                      <a:schemeClr val="tx1"/>
                    </a:solidFill>
                    <a:latin typeface="MiSans"/>
                    <a:ea typeface="MiSans"/>
                    <a:cs typeface="MiSans"/>
                  </a:defRPr>
                </a:pPr>
              </a:p>
            </c:txPr>
            <c:separator val=", "/>
          </c:dLbls>
          <c:cat>
            <c:strRef>
              <c:f>Sheet1!$A$2:$A$5</c:f>
              <c:strCache>
                <c:ptCount val="4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620</c:v>
                </c:pt>
                <c:pt idx="1">
                  <c:v>640</c:v>
                </c:pt>
                <c:pt idx="2">
                  <c:v>700</c:v>
                </c:pt>
                <c:pt idx="3">
                  <c:v>720</c:v>
                </c:pt>
              </c:numCache>
            </c:numRef>
          </c:val>
        </c:ser>
        <c:gapWidth val="12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 cap="flat" cmpd="sng" algn="ctr">
            <a:solidFill>
              <a:srgbClr val="E2E8EE"/>
            </a:solidFill>
          </a:ln>
        </c:spPr>
        <c:txPr>
          <a:bodyPr/>
          <a:lstStyle/>
          <a:p>
            <a:pPr>
              <a:defRPr sz="900">
                <a:solidFill>
                  <a:schemeClr val="tx1"/>
                </a:solidFill>
                <a:latin typeface="MiSans"/>
                <a:ea typeface="MiSans"/>
                <a:cs typeface="MiSans"/>
              </a:defRPr>
            </a:pPr>
          </a:p>
        </c:txPr>
        <c:crossAx val="2"/>
        <c:crosses val="autoZero"/>
        <c:auto val="1"/>
        <c:lblAlgn val="ctr"/>
        <c:lblOffset val="100"/>
        <c:noMultiLvlLbl val="0"/>
      </c:catAx>
      <c:valAx>
        <c:axId val="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2E8EE"/>
              </a:solidFill>
            </a:ln>
          </c:spPr>
        </c:majorGridlines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chemeClr val="tx1"/>
                </a:solidFill>
                <a:latin typeface="MiSans"/>
                <a:ea typeface="MiSans"/>
                <a:cs typeface="MiSans"/>
              </a:defRPr>
            </a:pPr>
          </a:p>
        </c:txPr>
        <c:crossAx val="1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>
              <a:solidFill>
                <a:schemeClr val="tx1"/>
              </a:solidFill>
              <a:latin typeface="MiSans"/>
              <a:ea typeface="MiSans"/>
              <a:cs typeface="MiSans"/>
            </a:defRPr>
          </a:pPr>
        </a:p>
      </c:txPr>
    </c:legend>
    <c:plotVisOnly val="1"/>
    <c:dispBlanksAs val="gap"/>
  </c:chart>
  <c:externalData r:id="rId1">
    <c:autoUpdate val="0"/>
  </c:externalData>
</c:chartSpace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ysClr val="window" lastClr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 kern="1200">
          <a:solidFill>
            <a:schemeClr val="tx1"/>
          </a:solidFill>
          <a:latin typeface="MiSans"/>
          <a:ea typeface="MiSans"/>
          <a:cs typeface="MiSans"/>
        </a:defRPr>
      </a:lvl1pPr>
    </p:titleStyle>
    <p:bodyStyle>
      <a:lvl1pPr>
        <a:defRPr sz="1800">
          <a:solidFill>
            <a:schemeClr val="tx1"/>
          </a:solidFill>
          <a:latin typeface="MiSans"/>
          <a:ea typeface="MiSans"/>
          <a:cs typeface="MiSans"/>
        </a:defRPr>
      </a:lvl1pPr>
    </p:bodyStyle>
    <p:otherStyle>
      <a:lvl1pPr>
        <a:defRPr sz="1800">
          <a:solidFill>
            <a:schemeClr val="tx1"/>
          </a:solidFill>
          <a:latin typeface="MiSans"/>
          <a:ea typeface="MiSans"/>
          <a:cs typeface="MiSan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Chart1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" name="t1"/>
          <p:cNvSpPr txBox="1"/>
          <p:nvPr/>
        </p:nvSpPr>
        <p:spPr>
          <a:xfrm>
            <a:off x="762000" y="762000"/>
            <a:ext cx="5080000" cy="508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b="1" sz="2800">
                <a:solidFill>
                  <a:schemeClr val="accent1"/>
                </a:solidFill>
                <a:latin typeface="MiSans"/>
                <a:ea typeface="MiSans"/>
                <a:cs typeface="MiSans"/>
              </a:rPr>
              <a:t>13 柱状图</a:t>
            </a:r>
          </a:p>
        </p:txBody>
      </p:sp>
      <p:graphicFrame>
        <p:nvGraphicFramePr>
          <p:cNvPr id="2" name="c1"/>
          <p:cNvGraphicFramePr>
            <a:graphicFrameLocks noGrp="1"/>
          </p:cNvGraphicFramePr>
          <p:nvPr/>
        </p:nvGraphicFramePr>
        <p:xfrm>
          <a:off x="762000" y="1778000"/>
          <a:ext cx="10160000" cy="4318000"/>
        </p:xfrm>
        <a:graphic>
          <a:graphicData uri="http://schemas.openxmlformats.org/drawingml/2006/chart">
            <c:chart xmlns:c="http://schemas.openxmlformats.org/drawingml/2006/chart" r:id="rIdChart1"/>
          </a:graphicData>
        </a:graphic>
      </p:graphicFrame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蓝色">
  <a:themeElements>
    <a:clrScheme name="蓝色">
      <a:dk1>
        <a:sysClr val="windowText" lastClr="000000"/>
      </a:dk1>
      <a:lt1>
        <a:sysClr val="window" lastClr="FFFFFF"/>
      </a:lt1>
      <a:dk2>
        <a:srgbClr val="1F2937"/>
      </a:dk2>
      <a:lt2>
        <a:srgbClr val="FFFFFF"/>
      </a:lt2>
      <a:accent1>
        <a:srgbClr val="2563EB"/>
      </a:accent1>
      <a:accent2>
        <a:srgbClr val="F59E0B"/>
      </a:accent2>
      <a:accent3>
        <a:srgbClr val="7FB2D9"/>
      </a:accent3>
      <a:accent4>
        <a:srgbClr val="C9A227"/>
      </a:accent4>
      <a:accent5>
        <a:srgbClr val="B5503C"/>
      </a:accent5>
      <a:accent6>
        <a:srgbClr val="5C8A6A"/>
      </a:accent6>
      <a:hlink>
        <a:srgbClr val="0563C1"/>
      </a:hlink>
      <a:folHlink>
        <a:srgbClr val="954F72"/>
      </a:folHlink>
    </a:clrScheme>
    <a:fontScheme name="open-pptd">
      <a:majorFont>
        <a:latin typeface="MiSans"/>
        <a:ea typeface="MiSans"/>
        <a:cs typeface=""/>
      </a:majorFont>
      <a:minorFont>
        <a:latin typeface="MiSans"/>
        <a:ea typeface="MiSan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  <a:tableStyleLst>
      <a:tblStyle id="{00000000-0000-0000-0000-000000000000}" styleName="Blank">
        <a:wholeTbl>
          <a:tcTxStyle>
            <a:fontRef idx="minor">
              <a:schemeClr val="tx1"/>
            </a:fontRef>
            <a:schemeClr val="tx1"/>
          </a:tcTxStyle>
        </a:wholeTbl>
      </a:tblStyle>
    </a:tableStyleLst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open-pptd</Application>
  <PresentationFormat>宽屏</PresentationFormat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幻灯片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iso-13</dc:title>
  <dc:creator>open-pptd</dc:creator>
  <cp:lastModifiedBy>open-pptd</cp:lastModifiedBy>
  <dcterms:created xsi:type="dcterms:W3CDTF">2026-08-10T05:00:40.334Z</dcterms:created>
  <dcterms:modified xsi:type="dcterms:W3CDTF">2026-08-10T05:00:40.334Z</dcterms:modified>
</cp:coreProperties>
</file>